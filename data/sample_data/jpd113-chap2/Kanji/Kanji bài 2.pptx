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88825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>
      <p:cViewPr varScale="1">
        <p:scale>
          <a:sx n="67" d="100"/>
          <a:sy n="67" d="100"/>
        </p:scale>
        <p:origin x="740" y="5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9ACC-BB8B-40BD-9C3D-7515A99833BA}" type="datetimeFigureOut">
              <a:rPr lang="en-US"/>
              <a:t>7/22/2025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B09C-4EB4-4858-8C5D-928515EB5FA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47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3F5D-6129-4745-AD27-E1F8E3F0C4BE}" type="datetimeFigureOut">
              <a:rPr lang="en-US"/>
              <a:t>7/22/2025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0D2E-0C1A-4418-8763-9BB732EB1D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3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9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7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B9F7-FE8F-4CB7-B90F-B7A115B006F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8EBC-E876-4F75-A8E2-294E5800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6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2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2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67DBB-F8DB-48F4-997A-49FAD7ECC765}" type="datetime1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884F-698C-4153-AB67-9A0F214F106F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EA86-1680-48AE-B31F-3E3431F3A32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3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14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4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2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646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01A9C7-C274-4F50-89C9-83BDB06EDB81}" type="datetime1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4412" y="12954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3956" y="3753280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5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065211" y="1600200"/>
            <a:ext cx="3833838" cy="2649542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一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991529" y="5893801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(NHẤT)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4406" y="735599"/>
            <a:ext cx="2158324" cy="558267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いち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12664" y="4497334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ひと・つ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37587">
            <a:off x="7409067" y="4484622"/>
            <a:ext cx="3905587" cy="14975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91ECA6C-4277-4DC9-A336-70B013D88EB5}"/>
              </a:ext>
            </a:extLst>
          </p:cNvPr>
          <p:cNvSpPr/>
          <p:nvPr/>
        </p:nvSpPr>
        <p:spPr>
          <a:xfrm>
            <a:off x="6531787" y="1293866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一月（いちがつ）： 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b="1" dirty="0" err="1">
                <a:solidFill>
                  <a:prstClr val="black"/>
                </a:solidFill>
              </a:rPr>
              <a:t>Tháng</a:t>
            </a:r>
            <a:r>
              <a:rPr lang="en-US" sz="2400" b="1" dirty="0">
                <a:solidFill>
                  <a:prstClr val="black"/>
                </a:solidFill>
              </a:rPr>
              <a:t> 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6E427627-D7BF-4A22-A643-C3F7A4407AE4}"/>
              </a:ext>
            </a:extLst>
          </p:cNvPr>
          <p:cNvSpPr/>
          <p:nvPr/>
        </p:nvSpPr>
        <p:spPr>
          <a:xfrm>
            <a:off x="6602544" y="2667000"/>
            <a:ext cx="4206853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b="1" dirty="0"/>
              <a:t>一つ（ひとつ）</a:t>
            </a:r>
            <a:r>
              <a:rPr lang="ja-JP" altLang="en-US" sz="2400" b="1" dirty="0">
                <a:solidFill>
                  <a:prstClr val="black"/>
                </a:solidFill>
              </a:rPr>
              <a:t>： 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b="1" dirty="0" err="1"/>
              <a:t>Một</a:t>
            </a:r>
            <a:r>
              <a:rPr lang="en-US" sz="2400" b="1" dirty="0"/>
              <a:t> </a:t>
            </a:r>
            <a:r>
              <a:rPr lang="en-US" sz="2400" b="1" dirty="0" err="1"/>
              <a:t>cái</a:t>
            </a:r>
            <a:r>
              <a:rPr lang="en-US" sz="2400" b="1" dirty="0"/>
              <a:t> (</a:t>
            </a:r>
            <a:r>
              <a:rPr lang="en-US" sz="2400" b="1" dirty="0" err="1"/>
              <a:t>đếm</a:t>
            </a:r>
            <a:r>
              <a:rPr lang="en-US" sz="2400" b="1" dirty="0"/>
              <a:t> </a:t>
            </a:r>
            <a:r>
              <a:rPr lang="en-US" sz="2400" b="1" dirty="0" err="1"/>
              <a:t>đồ</a:t>
            </a:r>
            <a:r>
              <a:rPr lang="en-US" sz="2400" b="1" dirty="0"/>
              <a:t> </a:t>
            </a:r>
            <a:r>
              <a:rPr lang="en-US" sz="2400" b="1" dirty="0" err="1"/>
              <a:t>vật</a:t>
            </a:r>
            <a:r>
              <a:rPr lang="en-US" sz="2400" dirty="0"/>
              <a:t>)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24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752885" y="1566023"/>
            <a:ext cx="4781594" cy="292977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二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53082" y="600607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(NHỊ)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44644" y="810887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に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74217" y="4946136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ふた・つ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4527">
            <a:off x="7053100" y="4559237"/>
            <a:ext cx="4635155" cy="17676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AA9FB46-01D5-4CAA-B286-6E568CC4012D}"/>
              </a:ext>
            </a:extLst>
          </p:cNvPr>
          <p:cNvSpPr/>
          <p:nvPr/>
        </p:nvSpPr>
        <p:spPr>
          <a:xfrm>
            <a:off x="6551612" y="1752600"/>
            <a:ext cx="4206853" cy="11485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りんごを</a:t>
            </a:r>
            <a:r>
              <a:rPr lang="ja-JP" altLang="en-US" sz="2400" b="1" dirty="0"/>
              <a:t>二つ</a:t>
            </a:r>
            <a:r>
              <a:rPr lang="ja-JP" altLang="en-US" sz="2400" dirty="0"/>
              <a:t>ください</a:t>
            </a:r>
            <a:r>
              <a:rPr lang="en-US" altLang="ja-JP" sz="2400" dirty="0"/>
              <a:t>:</a:t>
            </a:r>
          </a:p>
          <a:p>
            <a:pPr algn="ctr"/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/>
              <a:t>Cho </a:t>
            </a:r>
            <a:r>
              <a:rPr lang="en-US" sz="2400" dirty="0" err="1"/>
              <a:t>tôi</a:t>
            </a:r>
            <a:r>
              <a:rPr lang="en-US" sz="2400" dirty="0"/>
              <a:t> </a:t>
            </a:r>
            <a:r>
              <a:rPr lang="en-US" sz="2400" b="1" dirty="0" err="1"/>
              <a:t>hai</a:t>
            </a:r>
            <a:r>
              <a:rPr lang="en-US" sz="2400" b="1" dirty="0"/>
              <a:t> </a:t>
            </a:r>
            <a:r>
              <a:rPr lang="en-US" sz="2400" b="1" dirty="0" err="1"/>
              <a:t>quả</a:t>
            </a:r>
            <a:r>
              <a:rPr lang="en-US" sz="2400" b="1" dirty="0"/>
              <a:t> </a:t>
            </a:r>
            <a:r>
              <a:rPr lang="en-US" sz="2400" b="1" dirty="0" err="1"/>
              <a:t>táo</a:t>
            </a:r>
            <a:r>
              <a:rPr lang="en-US" sz="2400" dirty="0"/>
              <a:t>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171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95934" y="1295400"/>
            <a:ext cx="4596243" cy="397643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三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053676" y="628649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4812" y="506133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さん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74811" y="5516871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みっ・つ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39431">
            <a:off x="7167872" y="4457281"/>
            <a:ext cx="4577581" cy="18232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04405711-1293-4571-ABAD-31B306493B94}"/>
              </a:ext>
            </a:extLst>
          </p:cNvPr>
          <p:cNvSpPr/>
          <p:nvPr/>
        </p:nvSpPr>
        <p:spPr>
          <a:xfrm>
            <a:off x="6627812" y="14478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三年生（さんねんせい） </a:t>
            </a:r>
            <a:r>
              <a:rPr lang="en-US" altLang="ja-JP" sz="2400" dirty="0"/>
              <a:t>: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 3 (</a:t>
            </a:r>
            <a:r>
              <a:rPr lang="en-US" sz="2400" dirty="0" err="1"/>
              <a:t>lớp</a:t>
            </a:r>
            <a:r>
              <a:rPr lang="en-US" sz="2400" dirty="0"/>
              <a:t> 3, </a:t>
            </a:r>
            <a:r>
              <a:rPr lang="en-US" sz="2400" dirty="0" err="1"/>
              <a:t>năm</a:t>
            </a:r>
            <a:r>
              <a:rPr lang="en-US" sz="2400" dirty="0"/>
              <a:t> 3)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97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08012" y="1487443"/>
            <a:ext cx="4781594" cy="320116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四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29307" y="6248400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0870" y="699967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50441" y="4951717"/>
            <a:ext cx="2738931" cy="111880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よん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よっ・つ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61238">
            <a:off x="7028698" y="4152570"/>
            <a:ext cx="4652457" cy="1807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D8A5D783-3118-4965-B12B-EBBC7A8C03CC}"/>
              </a:ext>
            </a:extLst>
          </p:cNvPr>
          <p:cNvSpPr/>
          <p:nvPr/>
        </p:nvSpPr>
        <p:spPr>
          <a:xfrm>
            <a:off x="6704012" y="1572682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四月（しがつ）</a:t>
            </a:r>
            <a:r>
              <a:rPr lang="en-US" altLang="ja-JP" sz="2400" dirty="0"/>
              <a:t>:</a:t>
            </a:r>
            <a:r>
              <a:rPr lang="ja-JP" altLang="en-US" sz="2400" dirty="0"/>
              <a:t> </a:t>
            </a:r>
            <a:r>
              <a:rPr lang="en-US" altLang="ja-JP" sz="2400" b="1" dirty="0" err="1"/>
              <a:t>Tháng</a:t>
            </a:r>
            <a:r>
              <a:rPr lang="en-US" altLang="ja-JP" sz="2400" b="1" dirty="0"/>
              <a:t> 4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E95B7196-E962-4555-8E13-53B4E26FA871}"/>
              </a:ext>
            </a:extLst>
          </p:cNvPr>
          <p:cNvSpPr/>
          <p:nvPr/>
        </p:nvSpPr>
        <p:spPr>
          <a:xfrm>
            <a:off x="6740524" y="2792262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四つ（よっつ</a:t>
            </a:r>
            <a:r>
              <a:rPr lang="en-US" altLang="ja-JP" sz="2400" dirty="0"/>
              <a:t>):</a:t>
            </a:r>
            <a:r>
              <a:rPr lang="ja-JP" altLang="en-US" sz="2400" dirty="0"/>
              <a:t> </a:t>
            </a:r>
            <a:r>
              <a:rPr lang="en-US" altLang="ja-JP" sz="2400" b="1" dirty="0" err="1"/>
              <a:t>Bốn</a:t>
            </a:r>
            <a:r>
              <a:rPr lang="en-US" altLang="ja-JP" sz="2400" b="1" dirty="0"/>
              <a:t> </a:t>
            </a:r>
            <a:r>
              <a:rPr lang="en-US" altLang="ja-JP" sz="2400" b="1" dirty="0" err="1"/>
              <a:t>cái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3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893693" y="1282390"/>
            <a:ext cx="4781594" cy="4022842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五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11352" y="625076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(NGŨ)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7014" y="5334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ご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15024" y="547319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いつ・つ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7818">
            <a:off x="6929618" y="4372220"/>
            <a:ext cx="4696973" cy="1827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59D10800-64C6-46E6-89C0-F9A3D9E24332}"/>
              </a:ext>
            </a:extLst>
          </p:cNvPr>
          <p:cNvSpPr/>
          <p:nvPr/>
        </p:nvSpPr>
        <p:spPr>
          <a:xfrm>
            <a:off x="6627812" y="1447800"/>
            <a:ext cx="4206853" cy="1447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コーヒーを五つください。 </a:t>
            </a:r>
            <a:r>
              <a:rPr lang="en-US" altLang="ja-JP" sz="2400" dirty="0"/>
              <a:t>: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/>
              <a:t>Cho </a:t>
            </a:r>
            <a:r>
              <a:rPr lang="en-US" sz="2400" dirty="0" err="1"/>
              <a:t>tôi</a:t>
            </a:r>
            <a:r>
              <a:rPr lang="en-US" sz="2400" dirty="0"/>
              <a:t> </a:t>
            </a:r>
            <a:r>
              <a:rPr lang="en-US" sz="2400" b="1" dirty="0"/>
              <a:t>5 </a:t>
            </a:r>
            <a:r>
              <a:rPr lang="en-US" sz="2400" b="1" dirty="0" err="1"/>
              <a:t>ly</a:t>
            </a:r>
            <a:r>
              <a:rPr lang="en-US" sz="2400" b="1" dirty="0"/>
              <a:t> </a:t>
            </a:r>
            <a:r>
              <a:rPr lang="en-US" sz="2400" b="1" dirty="0" err="1"/>
              <a:t>cà</a:t>
            </a:r>
            <a:r>
              <a:rPr lang="en-US" sz="2400" b="1" dirty="0"/>
              <a:t> </a:t>
            </a:r>
            <a:r>
              <a:rPr lang="en-US" sz="2400" b="1" dirty="0" err="1"/>
              <a:t>phê</a:t>
            </a:r>
            <a:r>
              <a:rPr lang="en-US" sz="2400" dirty="0"/>
              <a:t>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410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893694" y="1487948"/>
            <a:ext cx="4781594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六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93891" y="6143888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(LỤC)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5453" y="54835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ろく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25109" y="5268536"/>
            <a:ext cx="2718764" cy="60148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むっ・つ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7104">
            <a:off x="6994212" y="4446961"/>
            <a:ext cx="4248588" cy="1643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550050" y="141635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六人（ろくにん） </a:t>
            </a:r>
            <a:r>
              <a:rPr lang="en-US" altLang="ja-JP" sz="2400" dirty="0"/>
              <a:t>: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/>
              <a:t>6 </a:t>
            </a:r>
            <a:r>
              <a:rPr lang="en-US" sz="2400" dirty="0" err="1"/>
              <a:t>người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B5A1887E-D1D6-4CD3-85F9-B0EF00195F8E}"/>
              </a:ext>
            </a:extLst>
          </p:cNvPr>
          <p:cNvSpPr/>
          <p:nvPr/>
        </p:nvSpPr>
        <p:spPr>
          <a:xfrm>
            <a:off x="6550050" y="293092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六つ（むっつ） </a:t>
            </a:r>
            <a:r>
              <a:rPr lang="en-US" altLang="ja-JP" sz="2400" dirty="0"/>
              <a:t>: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 err="1"/>
              <a:t>Sáu</a:t>
            </a:r>
            <a:r>
              <a:rPr lang="en-US" sz="2400" dirty="0"/>
              <a:t> </a:t>
            </a:r>
            <a:r>
              <a:rPr lang="en-US" sz="2400" dirty="0" err="1"/>
              <a:t>cái</a:t>
            </a:r>
            <a:r>
              <a:rPr lang="en-US" sz="2400" dirty="0"/>
              <a:t> (</a:t>
            </a:r>
            <a:r>
              <a:rPr lang="en-US" sz="2400" dirty="0" err="1"/>
              <a:t>đếm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chung</a:t>
            </a:r>
            <a:r>
              <a:rPr lang="en-US" sz="2400" dirty="0"/>
              <a:t>)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031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2" y="1278122"/>
            <a:ext cx="4557975" cy="344627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七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6325" y="638175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(THẤT)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9612" y="609600"/>
            <a:ext cx="2198076" cy="51612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しち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09184" y="5067761"/>
            <a:ext cx="2738931" cy="104328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なな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なな・つ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66920">
            <a:off x="7009150" y="4343659"/>
            <a:ext cx="4749239" cy="18126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7B1F09-3840-442B-A04A-92B5D97306BE}"/>
              </a:ext>
            </a:extLst>
          </p:cNvPr>
          <p:cNvSpPr/>
          <p:nvPr/>
        </p:nvSpPr>
        <p:spPr>
          <a:xfrm>
            <a:off x="6627812" y="144780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dirty="0"/>
              <a:t> 七つ（ななつ） </a:t>
            </a:r>
            <a:r>
              <a:rPr lang="en-US" altLang="ja-JP" sz="2400" dirty="0"/>
              <a:t>:</a:t>
            </a:r>
            <a:endParaRPr lang="en-US" altLang="ja-JP" sz="2400" b="1" dirty="0">
              <a:solidFill>
                <a:prstClr val="black"/>
              </a:solidFill>
            </a:endParaRPr>
          </a:p>
          <a:p>
            <a:pPr algn="ctr"/>
            <a:r>
              <a:rPr lang="en-US" sz="2400" dirty="0"/>
              <a:t>7 </a:t>
            </a:r>
            <a:r>
              <a:rPr lang="en-US" sz="2400" dirty="0" err="1"/>
              <a:t>cái</a:t>
            </a:r>
            <a:r>
              <a:rPr lang="en-US" sz="2400" dirty="0"/>
              <a:t> (</a:t>
            </a:r>
            <a:r>
              <a:rPr lang="en-US" sz="2400" dirty="0" err="1"/>
              <a:t>đếm</a:t>
            </a:r>
            <a:r>
              <a:rPr lang="en-US" sz="2400" dirty="0"/>
              <a:t> </a:t>
            </a:r>
            <a:r>
              <a:rPr lang="en-US" sz="2400" dirty="0" err="1"/>
              <a:t>chung</a:t>
            </a:r>
            <a:r>
              <a:rPr lang="en-US" sz="2400" dirty="0"/>
              <a:t>)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594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217612" y="1600200"/>
            <a:ext cx="4316867" cy="30480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八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85444" y="6019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(BÁT)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7620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はち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06579" y="4953000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やっ・つ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22873">
            <a:off x="6997141" y="4269051"/>
            <a:ext cx="4709607" cy="17926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6213CC-4FEA-460A-A9EE-DA84FD99C9B8}"/>
              </a:ext>
            </a:extLst>
          </p:cNvPr>
          <p:cNvSpPr/>
          <p:nvPr/>
        </p:nvSpPr>
        <p:spPr>
          <a:xfrm>
            <a:off x="6627812" y="1447800"/>
            <a:ext cx="4206853" cy="132786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600" dirty="0">
                <a:solidFill>
                  <a:srgbClr val="FF0000"/>
                </a:solidFill>
              </a:rPr>
              <a:t>八日</a:t>
            </a:r>
            <a:r>
              <a:rPr lang="en-US" altLang="ja-JP" sz="2600" dirty="0"/>
              <a:t>(</a:t>
            </a:r>
            <a:r>
              <a:rPr lang="ja-JP" altLang="en-US" sz="2600" dirty="0"/>
              <a:t>ようか</a:t>
            </a:r>
            <a:r>
              <a:rPr lang="en-US" altLang="ja-JP" sz="2600" dirty="0"/>
              <a:t>)</a:t>
            </a:r>
            <a:r>
              <a:rPr lang="ja-JP" altLang="en-US" sz="2600" dirty="0"/>
              <a:t> </a:t>
            </a:r>
            <a:r>
              <a:rPr lang="en-US" altLang="ja-JP" sz="2600" dirty="0"/>
              <a:t>:</a:t>
            </a:r>
            <a:endParaRPr lang="en-US" altLang="ja-JP" sz="2600" b="1" dirty="0">
              <a:solidFill>
                <a:prstClr val="black"/>
              </a:solidFill>
            </a:endParaRPr>
          </a:p>
          <a:p>
            <a:pPr algn="ctr"/>
            <a:r>
              <a:rPr lang="en-US" sz="2600" dirty="0" err="1"/>
              <a:t>Ngày</a:t>
            </a:r>
            <a:r>
              <a:rPr lang="en-US" sz="2600" dirty="0"/>
              <a:t> </a:t>
            </a:r>
            <a:r>
              <a:rPr lang="en-US" sz="2600" dirty="0" err="1"/>
              <a:t>mùng</a:t>
            </a:r>
            <a:r>
              <a:rPr lang="en-US" sz="2600" dirty="0"/>
              <a:t> 8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35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41410" y="1324821"/>
            <a:ext cx="4420755" cy="4003481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九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48888" y="629749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(CỬU)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2012" y="208459"/>
            <a:ext cx="2198076" cy="101693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きゅう</a:t>
            </a:r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82321" y="5510750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ここの・つ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4272">
            <a:off x="6916225" y="4395840"/>
            <a:ext cx="4778497" cy="18458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663171" y="1752600"/>
            <a:ext cx="4206853" cy="11928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b="1" dirty="0">
                <a:solidFill>
                  <a:srgbClr val="FF0000"/>
                </a:solidFill>
              </a:rPr>
              <a:t>九月（くがつ）</a:t>
            </a:r>
            <a:r>
              <a:rPr lang="en-US" altLang="ja-JP" sz="2400" dirty="0">
                <a:solidFill>
                  <a:srgbClr val="FF0000"/>
                </a:solidFill>
              </a:rPr>
              <a:t>: </a:t>
            </a:r>
          </a:p>
          <a:p>
            <a:pPr algn="ctr"/>
            <a:r>
              <a:rPr lang="en-US" altLang="ja-JP" sz="2400" dirty="0" err="1"/>
              <a:t>Tháng</a:t>
            </a:r>
            <a:r>
              <a:rPr lang="en-US" altLang="ja-JP" sz="2400" dirty="0"/>
              <a:t> 9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41412" y="1278122"/>
            <a:ext cx="4495800" cy="4112693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十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98712" y="63246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(THẬP)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2012" y="5334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じゅう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19846" y="561489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とお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50487">
            <a:off x="7010957" y="4493434"/>
            <a:ext cx="4564877" cy="1776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2AF996C1-3286-412E-89C3-37AB98E139F5}"/>
              </a:ext>
            </a:extLst>
          </p:cNvPr>
          <p:cNvSpPr/>
          <p:nvPr/>
        </p:nvSpPr>
        <p:spPr>
          <a:xfrm>
            <a:off x="6627812" y="1267060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b="1" dirty="0">
                <a:solidFill>
                  <a:srgbClr val="FF0000"/>
                </a:solidFill>
              </a:rPr>
              <a:t>十日（とおか）</a:t>
            </a:r>
            <a:r>
              <a:rPr lang="en-US" altLang="ja-JP" sz="2400" dirty="0"/>
              <a:t>:</a:t>
            </a:r>
            <a:r>
              <a:rPr lang="ja-JP" altLang="en-US" sz="2400" dirty="0"/>
              <a:t> </a:t>
            </a:r>
            <a:endParaRPr lang="en-US" altLang="ja-JP" sz="2400" dirty="0"/>
          </a:p>
          <a:p>
            <a:pPr algn="ctr"/>
            <a:r>
              <a:rPr lang="en-US" altLang="ja-JP" sz="2400" dirty="0" err="1"/>
              <a:t>Ngày</a:t>
            </a:r>
            <a:r>
              <a:rPr lang="en-US" altLang="ja-JP" sz="2400" dirty="0"/>
              <a:t> </a:t>
            </a:r>
            <a:r>
              <a:rPr lang="en-US" altLang="ja-JP" sz="2400" dirty="0" err="1"/>
              <a:t>mùng</a:t>
            </a:r>
            <a:r>
              <a:rPr lang="en-US" altLang="ja-JP" sz="2400" dirty="0"/>
              <a:t> 10</a:t>
            </a:r>
            <a:r>
              <a:rPr lang="ja-JP" altLang="en-US" sz="2400" dirty="0"/>
              <a:t> 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095F3990-5BE5-42B4-93B9-9A786145D4CD}"/>
              </a:ext>
            </a:extLst>
          </p:cNvPr>
          <p:cNvSpPr/>
          <p:nvPr/>
        </p:nvSpPr>
        <p:spPr>
          <a:xfrm>
            <a:off x="6627811" y="2779412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400" b="1" dirty="0"/>
              <a:t>十人（じゅうにん）</a:t>
            </a:r>
            <a:r>
              <a:rPr lang="en-US" altLang="ja-JP" sz="2400" dirty="0"/>
              <a:t>:</a:t>
            </a:r>
          </a:p>
          <a:p>
            <a:pPr algn="ctr"/>
            <a:r>
              <a:rPr lang="ja-JP" altLang="en-US" sz="2400" dirty="0"/>
              <a:t> </a:t>
            </a:r>
            <a:r>
              <a:rPr lang="en-US" altLang="ja-JP" sz="2400" dirty="0"/>
              <a:t>10 </a:t>
            </a:r>
            <a:r>
              <a:rPr lang="en-US" altLang="ja-JP" sz="2400" dirty="0" err="1"/>
              <a:t>người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35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2" y="1447420"/>
            <a:ext cx="4781594" cy="396316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百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70659" y="592808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(BÁCH)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0771" y="6096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ひゃく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0336">
            <a:off x="7136097" y="4369989"/>
            <a:ext cx="4563009" cy="18267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8AEE953-C680-4A6E-9600-25AFF5F91131}"/>
              </a:ext>
            </a:extLst>
          </p:cNvPr>
          <p:cNvSpPr/>
          <p:nvPr/>
        </p:nvSpPr>
        <p:spPr>
          <a:xfrm>
            <a:off x="6627812" y="1447801"/>
            <a:ext cx="4206853" cy="609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三百 </a:t>
            </a:r>
            <a:r>
              <a:rPr lang="en-US" altLang="ja-JP" sz="2400" dirty="0"/>
              <a:t>(</a:t>
            </a:r>
            <a:r>
              <a:rPr lang="ja-JP" altLang="en-US" sz="2400" dirty="0"/>
              <a:t>さんびゃく</a:t>
            </a:r>
            <a:r>
              <a:rPr lang="en-US" altLang="ja-JP" sz="2400" dirty="0"/>
              <a:t>)</a:t>
            </a:r>
            <a:r>
              <a:rPr lang="ja-JP" altLang="en-US" sz="2400" dirty="0"/>
              <a:t>  </a:t>
            </a:r>
            <a:r>
              <a:rPr lang="en-US" altLang="ja-JP" sz="2400" dirty="0"/>
              <a:t>:</a:t>
            </a:r>
            <a:r>
              <a:rPr lang="en-US" altLang="ja-JP" sz="2400" b="1" dirty="0">
                <a:solidFill>
                  <a:prstClr val="black"/>
                </a:solidFill>
                <a:latin typeface="Calibri"/>
              </a:rPr>
              <a:t>300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7E7C670-8980-407A-A369-494879662109}"/>
              </a:ext>
            </a:extLst>
          </p:cNvPr>
          <p:cNvSpPr/>
          <p:nvPr/>
        </p:nvSpPr>
        <p:spPr>
          <a:xfrm>
            <a:off x="6627812" y="2438400"/>
            <a:ext cx="4206853" cy="6249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六百</a:t>
            </a:r>
            <a:r>
              <a:rPr lang="en-US" altLang="ja-JP" sz="2400" dirty="0"/>
              <a:t>(</a:t>
            </a:r>
            <a:r>
              <a:rPr lang="ja-JP" altLang="en-US" sz="2400" dirty="0"/>
              <a:t>ろっぴゃく</a:t>
            </a:r>
            <a:r>
              <a:rPr lang="en-US" altLang="ja-JP" sz="2400" dirty="0"/>
              <a:t>)</a:t>
            </a:r>
            <a:r>
              <a:rPr lang="ja-JP" altLang="en-US" sz="2400" dirty="0"/>
              <a:t>  </a:t>
            </a:r>
            <a:r>
              <a:rPr lang="en-US" altLang="ja-JP" sz="2400" dirty="0"/>
              <a:t>:</a:t>
            </a:r>
            <a:r>
              <a:rPr lang="en-US" altLang="ja-JP" sz="2400" b="1" dirty="0">
                <a:solidFill>
                  <a:prstClr val="black"/>
                </a:solidFill>
                <a:latin typeface="Calibri"/>
              </a:rPr>
              <a:t>600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A3A69F-41FF-4871-A7C8-29BAAF840468}"/>
              </a:ext>
            </a:extLst>
          </p:cNvPr>
          <p:cNvSpPr/>
          <p:nvPr/>
        </p:nvSpPr>
        <p:spPr>
          <a:xfrm>
            <a:off x="6638924" y="3482243"/>
            <a:ext cx="4206853" cy="6249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八百</a:t>
            </a:r>
            <a:r>
              <a:rPr lang="en-US" altLang="ja-JP" sz="2400" dirty="0"/>
              <a:t>(</a:t>
            </a:r>
            <a:r>
              <a:rPr lang="ja-JP" altLang="en-US" sz="2400" dirty="0"/>
              <a:t>はっぴゃく</a:t>
            </a:r>
            <a:r>
              <a:rPr lang="en-US" altLang="ja-JP" sz="2400" dirty="0"/>
              <a:t>)</a:t>
            </a:r>
            <a:r>
              <a:rPr lang="ja-JP" altLang="en-US" sz="2400" dirty="0"/>
              <a:t>  </a:t>
            </a:r>
            <a:r>
              <a:rPr lang="en-US" altLang="ja-JP" sz="2400" dirty="0"/>
              <a:t>:</a:t>
            </a:r>
            <a:r>
              <a:rPr lang="en-US" altLang="ja-JP" sz="2400" b="1" dirty="0">
                <a:solidFill>
                  <a:prstClr val="black"/>
                </a:solidFill>
                <a:latin typeface="Calibri"/>
              </a:rPr>
              <a:t>800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67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6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896303" y="1263650"/>
            <a:ext cx="4781594" cy="45466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千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96500" y="60833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(THIÊN)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3810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せん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15075">
            <a:off x="6864340" y="4373702"/>
            <a:ext cx="4733419" cy="17711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397DCC96-FFCA-489B-A2DD-8EBE0BEE0545}"/>
              </a:ext>
            </a:extLst>
          </p:cNvPr>
          <p:cNvSpPr/>
          <p:nvPr/>
        </p:nvSpPr>
        <p:spPr>
          <a:xfrm>
            <a:off x="6627812" y="1447801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三千（さんぜん）</a:t>
            </a:r>
            <a:r>
              <a:rPr lang="en-US" altLang="ja-JP" sz="2400" dirty="0"/>
              <a:t>:3000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4F1E462-E99F-4B9E-B123-E4F1A2AAE17E}"/>
              </a:ext>
            </a:extLst>
          </p:cNvPr>
          <p:cNvSpPr/>
          <p:nvPr/>
        </p:nvSpPr>
        <p:spPr>
          <a:xfrm>
            <a:off x="6626224" y="2667000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八千（はっせん）</a:t>
            </a:r>
            <a:r>
              <a:rPr lang="en-US" altLang="ja-JP" sz="2400" dirty="0"/>
              <a:t>:8000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49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14332" y="1317176"/>
            <a:ext cx="4781594" cy="3887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万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14529" y="58674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(VẠN)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0871" y="444461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まん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11552">
            <a:off x="6787208" y="4366981"/>
            <a:ext cx="4747707" cy="1744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98F955AB-D190-462C-B467-4D9014203FBD}"/>
              </a:ext>
            </a:extLst>
          </p:cNvPr>
          <p:cNvSpPr/>
          <p:nvPr/>
        </p:nvSpPr>
        <p:spPr>
          <a:xfrm>
            <a:off x="6704012" y="1345751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一万 </a:t>
            </a:r>
            <a:r>
              <a:rPr lang="en-US" altLang="ja-JP" sz="2400" dirty="0"/>
              <a:t>(</a:t>
            </a:r>
            <a:r>
              <a:rPr lang="ja-JP" altLang="en-US" sz="2400" dirty="0"/>
              <a:t>いちまん</a:t>
            </a:r>
            <a:r>
              <a:rPr lang="en-US" altLang="ja-JP" sz="2400" dirty="0"/>
              <a:t>) : 10000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DB16C9D5-572D-4525-A44B-56680E564C27}"/>
              </a:ext>
            </a:extLst>
          </p:cNvPr>
          <p:cNvSpPr/>
          <p:nvPr/>
        </p:nvSpPr>
        <p:spPr>
          <a:xfrm>
            <a:off x="6780212" y="2725315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十万 </a:t>
            </a:r>
            <a:r>
              <a:rPr lang="en-US" altLang="ja-JP" sz="2400" dirty="0"/>
              <a:t>(</a:t>
            </a:r>
            <a:r>
              <a:rPr lang="ja-JP" altLang="en-US" sz="2400" dirty="0"/>
              <a:t>じゅうまん</a:t>
            </a:r>
            <a:r>
              <a:rPr lang="en-US" altLang="ja-JP" sz="2400" dirty="0"/>
              <a:t>): 100000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39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778763" y="1676020"/>
            <a:ext cx="4832326" cy="3963161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円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88050" y="6003557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(VIÊN)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9612" y="7620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えん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77794">
            <a:off x="6999154" y="4466816"/>
            <a:ext cx="4343200" cy="1650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8EFE2D66-936A-49A5-8A3F-EE58B9946BC5}"/>
              </a:ext>
            </a:extLst>
          </p:cNvPr>
          <p:cNvSpPr/>
          <p:nvPr/>
        </p:nvSpPr>
        <p:spPr>
          <a:xfrm>
            <a:off x="6627812" y="1447801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百円（ひゃくえん）</a:t>
            </a:r>
            <a:r>
              <a:rPr lang="en-US" altLang="ja-JP" sz="2400" dirty="0"/>
              <a:t>:100 </a:t>
            </a:r>
            <a:r>
              <a:rPr lang="en-US" altLang="ja-JP" sz="2400" dirty="0" err="1"/>
              <a:t>yên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389758BB-208E-4556-8118-DC9173BFC3DA}"/>
              </a:ext>
            </a:extLst>
          </p:cNvPr>
          <p:cNvSpPr/>
          <p:nvPr/>
        </p:nvSpPr>
        <p:spPr>
          <a:xfrm>
            <a:off x="6644108" y="2647951"/>
            <a:ext cx="4206853" cy="76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五百円（ごひゃくえん）</a:t>
            </a:r>
            <a:r>
              <a:rPr lang="en-US" altLang="ja-JP" sz="2400" dirty="0"/>
              <a:t>:500 </a:t>
            </a:r>
            <a:r>
              <a:rPr lang="en-US" altLang="ja-JP" sz="2400" dirty="0" err="1"/>
              <a:t>yên</a:t>
            </a:r>
            <a:endParaRPr lang="en-US" altLang="ja-JP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6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6" grpId="0" animBg="1"/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MMPROD_NEXTUNIQUEID" val="10011"/>
  <p:tag name="MMPROD_UIDATA" val="&lt;database version=&quot;9.0&quot;&gt;&lt;object type=&quot;1&quot; unique_id=&quot;10001&quot;&gt;&lt;object type=&quot;8&quot; unique_id=&quot;10518&quot;&gt;&lt;/object&gt;&lt;object type=&quot;2&quot; unique_id=&quot;10519&quot;&gt;&lt;object type=&quot;3&quot; unique_id=&quot;10520&quot;&gt;&lt;property id=&quot;20148&quot; value=&quot;5&quot;/&gt;&lt;property id=&quot;20300&quot; value=&quot;Slide 1&quot;/&gt;&lt;property id=&quot;20307&quot; value=&quot;256&quot;/&gt;&lt;/object&gt;&lt;object type=&quot;3&quot; unique_id=&quot;10523&quot;&gt;&lt;property id=&quot;20148&quot; value=&quot;5&quot;/&gt;&lt;property id=&quot;20300&quot; value=&quot;Slide 2&quot;/&gt;&lt;property id=&quot;20307&quot; value=&quot;258&quot;/&gt;&lt;/object&gt;&lt;object type=&quot;3&quot; unique_id=&quot;10524&quot;&gt;&lt;property id=&quot;20148&quot; value=&quot;5&quot;/&gt;&lt;property id=&quot;20300&quot; value=&quot;Slide 3&quot;/&gt;&lt;property id=&quot;20307&quot; value=&quot;259&quot;/&gt;&lt;/object&gt;&lt;object type=&quot;3&quot; unique_id=&quot;10525&quot;&gt;&lt;property id=&quot;20148&quot; value=&quot;5&quot;/&gt;&lt;property id=&quot;20300&quot; value=&quot;Slide 4&quot;/&gt;&lt;property id=&quot;20307&quot; value=&quot;260&quot;/&gt;&lt;/object&gt;&lt;object type=&quot;3&quot; unique_id=&quot;10526&quot;&gt;&lt;property id=&quot;20148&quot; value=&quot;5&quot;/&gt;&lt;property id=&quot;20300&quot; value=&quot;Slide 5&quot;/&gt;&lt;property id=&quot;20307&quot; value=&quot;261&quot;/&gt;&lt;/object&gt;&lt;object type=&quot;3&quot; unique_id=&quot;10527&quot;&gt;&lt;property id=&quot;20148&quot; value=&quot;5&quot;/&gt;&lt;property id=&quot;20300&quot; value=&quot;Slide 6&quot;/&gt;&lt;property id=&quot;20307&quot; value=&quot;262&quot;/&gt;&lt;/object&gt;&lt;object type=&quot;3&quot; unique_id=&quot;20754&quot;&gt;&lt;property id=&quot;20148&quot; value=&quot;5&quot;/&gt;&lt;property id=&quot;20300&quot; value=&quot;Slide 8&quot;/&gt;&lt;property id=&quot;20307&quot; value=&quot;265&quot;/&gt;&lt;/object&gt;&lt;object type=&quot;3&quot; unique_id=&quot;20755&quot;&gt;&lt;property id=&quot;20148&quot; value=&quot;5&quot;/&gt;&lt;property id=&quot;20300&quot; value=&quot;Slide 9&quot;/&gt;&lt;property id=&quot;20307&quot; value=&quot;266&quot;/&gt;&lt;/object&gt;&lt;object type=&quot;3&quot; unique_id=&quot;20756&quot;&gt;&lt;property id=&quot;20148&quot; value=&quot;5&quot;/&gt;&lt;property id=&quot;20300&quot; value=&quot;Slide 10&quot;/&gt;&lt;property id=&quot;20307&quot; value=&quot;267&quot;/&gt;&lt;/object&gt;&lt;object type=&quot;3&quot; unique_id=&quot;20757&quot;&gt;&lt;property id=&quot;20148&quot; value=&quot;5&quot;/&gt;&lt;property id=&quot;20300&quot; value=&quot;Slide 11&quot;/&gt;&lt;property id=&quot;20307&quot; value=&quot;268&quot;/&gt;&lt;/object&gt;&lt;object type=&quot;3&quot; unique_id=&quot;20758&quot;&gt;&lt;property id=&quot;20148&quot; value=&quot;5&quot;/&gt;&lt;property id=&quot;20300&quot; value=&quot;Slide 12&quot;/&gt;&lt;property id=&quot;20307&quot; value=&quot;269&quot;/&gt;&lt;/object&gt;&lt;object type=&quot;3&quot; unique_id=&quot;20759&quot;&gt;&lt;property id=&quot;20148&quot; value=&quot;5&quot;/&gt;&lt;property id=&quot;20300&quot; value=&quot;Slide 13&quot;/&gt;&lt;property id=&quot;20307&quot; value=&quot;270&quot;/&gt;&lt;/object&gt;&lt;object type=&quot;3&quot; unique_id=&quot;20760&quot;&gt;&lt;property id=&quot;20148&quot; value=&quot;5&quot;/&gt;&lt;property id=&quot;20300&quot; value=&quot;Slide 14&quot;/&gt;&lt;property id=&quot;20307&quot; value=&quot;271&quot;/&gt;&lt;/object&gt;&lt;object type=&quot;3&quot; unique_id=&quot;20821&quot;&gt;&lt;property id=&quot;20148&quot; value=&quot;5&quot;/&gt;&lt;property id=&quot;20300&quot; value=&quot;Slide 7&quot;/&gt;&lt;property id=&quot;20307&quot; value=&quot;273&quot;/&gt;&lt;/object&gt;&lt;object type=&quot;3&quot; unique_id=&quot;20822&quot;&gt;&lt;property id=&quot;20148&quot; value=&quot;5&quot;/&gt;&lt;property id=&quot;20300&quot; value=&quot;Slide 15&quot;/&gt;&lt;property id=&quot;20307&quot; value=&quot;272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A2A3AC6-1A45-42F7-8976-E15E36AD8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447</Words>
  <Application>Microsoft Office PowerPoint</Application>
  <PresentationFormat>Custom</PresentationFormat>
  <Paragraphs>98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HGMaruGothicMPRO</vt:lpstr>
      <vt:lpstr>NtMotoyaKyotai</vt:lpstr>
      <vt:lpstr>Arial</vt:lpstr>
      <vt:lpstr>Arial Rounded MT Bold</vt:lpstr>
      <vt:lpstr>Calibri</vt:lpstr>
      <vt:lpstr>Constantia</vt:lpstr>
      <vt:lpstr>Garamond</vt:lpstr>
      <vt:lpstr>Tahoma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2014-08-27T08:12:49Z</dcterms:created>
  <dcterms:modified xsi:type="dcterms:W3CDTF">2025-07-22T16:09:03Z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TC028952639991</vt:lpwstr>
  </property>
</Properties>
</file>